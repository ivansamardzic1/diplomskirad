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Kliknite da biste uredili stil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3E354-DE33-4848-8A6E-89B35A03E173}" type="datetimeFigureOut">
              <a:rPr lang="hr-HR" smtClean="0"/>
              <a:t>9.9.2026.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2BBCCA79-BB80-47DB-92DF-198C6A651BC5}" type="slidenum">
              <a:rPr lang="hr-HR" smtClean="0"/>
              <a:t>‹#›</a:t>
            </a:fld>
            <a:endParaRPr lang="hr-HR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5956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E513E354-DE33-4848-8A6E-89B35A03E173}" type="datetimeFigureOut">
              <a:rPr lang="hr-HR" smtClean="0"/>
              <a:t>9.9.2026.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CCA79-BB80-47DB-92DF-198C6A651BC5}" type="slidenum">
              <a:rPr lang="hr-HR" smtClean="0"/>
              <a:t>‹#›</a:t>
            </a:fld>
            <a:endParaRPr lang="hr-HR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8074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3E354-DE33-4848-8A6E-89B35A03E173}" type="datetimeFigureOut">
              <a:rPr lang="hr-HR" smtClean="0"/>
              <a:t>9.9.2026.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CCA79-BB80-47DB-92DF-198C6A651BC5}" type="slidenum">
              <a:rPr lang="hr-HR" smtClean="0"/>
              <a:t>‹#›</a:t>
            </a:fld>
            <a:endParaRPr lang="hr-HR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8890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3E354-DE33-4848-8A6E-89B35A03E173}" type="datetimeFigureOut">
              <a:rPr lang="hr-HR" smtClean="0"/>
              <a:t>9.9.2026.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CCA79-BB80-47DB-92DF-198C6A651BC5}" type="slidenum">
              <a:rPr lang="hr-HR" smtClean="0"/>
              <a:t>‹#›</a:t>
            </a:fld>
            <a:endParaRPr lang="hr-HR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8884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3E354-DE33-4848-8A6E-89B35A03E173}" type="datetimeFigureOut">
              <a:rPr lang="hr-HR" smtClean="0"/>
              <a:t>9.9.2026.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CCA79-BB80-47DB-92DF-198C6A651BC5}" type="slidenum">
              <a:rPr lang="hr-HR" smtClean="0"/>
              <a:t>‹#›</a:t>
            </a:fld>
            <a:endParaRPr lang="hr-HR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135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3E354-DE33-4848-8A6E-89B35A03E173}" type="datetimeFigureOut">
              <a:rPr lang="hr-HR" smtClean="0"/>
              <a:t>9.9.2026.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CCA79-BB80-47DB-92DF-198C6A651BC5}" type="slidenum">
              <a:rPr lang="hr-HR" smtClean="0"/>
              <a:t>‹#›</a:t>
            </a:fld>
            <a:endParaRPr lang="hr-HR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054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3E354-DE33-4848-8A6E-89B35A03E173}" type="datetimeFigureOut">
              <a:rPr lang="hr-HR" smtClean="0"/>
              <a:t>9.9.2026.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CCA79-BB80-47DB-92DF-198C6A651BC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89415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3E354-DE33-4848-8A6E-89B35A03E173}" type="datetimeFigureOut">
              <a:rPr lang="hr-HR" smtClean="0"/>
              <a:t>9.9.2026.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CCA79-BB80-47DB-92DF-198C6A651BC5}" type="slidenum">
              <a:rPr lang="hr-HR" smtClean="0"/>
              <a:t>‹#›</a:t>
            </a:fld>
            <a:endParaRPr lang="hr-HR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3306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E513E354-DE33-4848-8A6E-89B35A03E173}" type="datetimeFigureOut">
              <a:rPr lang="hr-HR" smtClean="0"/>
              <a:t>9.9.2026.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2BBCCA79-BB80-47DB-92DF-198C6A651BC5}" type="slidenum">
              <a:rPr lang="hr-HR" smtClean="0"/>
              <a:t>‹#›</a:t>
            </a:fld>
            <a:endParaRPr lang="hr-HR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2272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3E354-DE33-4848-8A6E-89B35A03E173}" type="datetimeFigureOut">
              <a:rPr lang="hr-HR" smtClean="0"/>
              <a:t>9.9.2026.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CCA79-BB80-47DB-92DF-198C6A651BC5}" type="slidenum">
              <a:rPr lang="hr-HR" smtClean="0"/>
              <a:t>‹#›</a:t>
            </a:fld>
            <a:endParaRPr lang="hr-HR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560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3E354-DE33-4848-8A6E-89B35A03E173}" type="datetimeFigureOut">
              <a:rPr lang="hr-HR" smtClean="0"/>
              <a:t>9.9.2026.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CCA79-BB80-47DB-92DF-198C6A651BC5}" type="slidenum">
              <a:rPr lang="hr-HR" smtClean="0"/>
              <a:t>‹#›</a:t>
            </a:fld>
            <a:endParaRPr lang="hr-HR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5583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3E354-DE33-4848-8A6E-89B35A03E173}" type="datetimeFigureOut">
              <a:rPr lang="hr-HR" smtClean="0"/>
              <a:t>9.9.2026.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BBCCA79-BB80-47DB-92DF-198C6A651BC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3897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2200B2B-9ED8-3267-9DE7-DFD3B04FF7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403" y="1558472"/>
            <a:ext cx="8637073" cy="2618554"/>
          </a:xfrm>
        </p:spPr>
        <p:txBody>
          <a:bodyPr>
            <a:normAutofit fontScale="90000"/>
          </a:bodyPr>
          <a:lstStyle/>
          <a:p>
            <a:r>
              <a:rPr lang="hr-HR" dirty="0"/>
              <a:t>Planiranje obroka i praćenje zaliha namirnica na Android mobilnim uređajima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3636976C-0B2C-8835-5D7A-9A94EEDAC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8404" y="4629788"/>
            <a:ext cx="8637072" cy="1071095"/>
          </a:xfrm>
        </p:spPr>
        <p:txBody>
          <a:bodyPr>
            <a:normAutofit fontScale="70000" lnSpcReduction="20000"/>
          </a:bodyPr>
          <a:lstStyle/>
          <a:p>
            <a:r>
              <a:rPr lang="hr-HR" dirty="0"/>
              <a:t>Ivan Samardžić</a:t>
            </a:r>
          </a:p>
          <a:p>
            <a:r>
              <a:rPr lang="hr-HR" dirty="0"/>
              <a:t>Mentor: prof.dr.sc. Hrvoje Mlinarić</a:t>
            </a:r>
          </a:p>
          <a:p>
            <a:r>
              <a:rPr lang="hr-HR" dirty="0"/>
              <a:t>FER, Zagreb, 11.09.2026.</a:t>
            </a:r>
          </a:p>
        </p:txBody>
      </p:sp>
    </p:spTree>
    <p:extLst>
      <p:ext uri="{BB962C8B-B14F-4D97-AF65-F5344CB8AC3E}">
        <p14:creationId xmlns:p14="http://schemas.microsoft.com/office/powerpoint/2010/main" val="551527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F3F60C5-14DA-179E-DCB2-D829A8EE0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Sadržaj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2854EBC7-2DD4-C424-5E0E-DB1D24FB0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Motivacija i postojeća programska rješenja</a:t>
            </a:r>
          </a:p>
          <a:p>
            <a:r>
              <a:rPr lang="hr-HR" dirty="0"/>
              <a:t>Specifikacija zahtjeva</a:t>
            </a:r>
          </a:p>
          <a:p>
            <a:r>
              <a:rPr lang="hr-HR" dirty="0"/>
              <a:t>Arhitektura sustava i baza podataka</a:t>
            </a:r>
          </a:p>
          <a:p>
            <a:r>
              <a:rPr lang="hr-HR" dirty="0"/>
              <a:t>Funkcionalnosti aplikacije</a:t>
            </a:r>
          </a:p>
          <a:p>
            <a:r>
              <a:rPr lang="hr-HR" dirty="0"/>
              <a:t>Korištene tehnologije i alati</a:t>
            </a:r>
          </a:p>
          <a:p>
            <a:r>
              <a:rPr lang="hr-HR" dirty="0"/>
              <a:t>Zaključak</a:t>
            </a:r>
          </a:p>
        </p:txBody>
      </p:sp>
    </p:spTree>
    <p:extLst>
      <p:ext uri="{BB962C8B-B14F-4D97-AF65-F5344CB8AC3E}">
        <p14:creationId xmlns:p14="http://schemas.microsoft.com/office/powerpoint/2010/main" val="2821163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014BF94-4DFC-4A65-99BF-76277891E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55C7B1-10DA-4D61-B560-5E1F081B3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C0E0ABC4-7850-B56A-1394-1FC5137C1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028" y="948706"/>
            <a:ext cx="4507707" cy="1049235"/>
          </a:xfrm>
        </p:spPr>
        <p:txBody>
          <a:bodyPr>
            <a:normAutofit/>
          </a:bodyPr>
          <a:lstStyle/>
          <a:p>
            <a:r>
              <a:rPr lang="hr-HR" dirty="0"/>
              <a:t>Motivacija	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8C29B8B-A62C-43CE-92FF-12EAA1D0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60419" b="36564"/>
          <a:stretch/>
        </p:blipFill>
        <p:spPr>
          <a:xfrm>
            <a:off x="1125460" y="643464"/>
            <a:ext cx="4526280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2F6736E5-D558-E354-B98F-55F626F8E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030" y="2167151"/>
            <a:ext cx="4503066" cy="3299194"/>
          </a:xfrm>
        </p:spPr>
        <p:txBody>
          <a:bodyPr>
            <a:normAutofit/>
          </a:bodyPr>
          <a:lstStyle/>
          <a:p>
            <a:r>
              <a:rPr lang="hr-HR" dirty="0"/>
              <a:t>Ubrzan način života 	otežava organizaciju prehrane</a:t>
            </a:r>
          </a:p>
          <a:p>
            <a:r>
              <a:rPr lang="hr-HR" dirty="0"/>
              <a:t>Korisnik često ne zna što već ima kod kuće</a:t>
            </a:r>
          </a:p>
          <a:p>
            <a:r>
              <a:rPr lang="hr-HR" dirty="0"/>
              <a:t>Planiranje obroka</a:t>
            </a:r>
          </a:p>
          <a:p>
            <a:r>
              <a:rPr lang="hr-HR" dirty="0"/>
              <a:t>Paprika </a:t>
            </a:r>
            <a:r>
              <a:rPr lang="hr-HR" dirty="0" err="1"/>
              <a:t>Recipe</a:t>
            </a:r>
            <a:r>
              <a:rPr lang="hr-HR" dirty="0"/>
              <a:t> Manager </a:t>
            </a:r>
          </a:p>
          <a:p>
            <a:r>
              <a:rPr lang="hr-HR" dirty="0"/>
              <a:t>Plan To </a:t>
            </a:r>
            <a:r>
              <a:rPr lang="hr-HR" dirty="0" err="1"/>
              <a:t>Eat</a:t>
            </a:r>
            <a:endParaRPr lang="hr-HR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E51B246E-90CA-29B1-DDD4-196A7BA75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1" y="1005730"/>
            <a:ext cx="4960442" cy="42604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873EA42-E9E9-4806-A9F6-1718BE38B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99D5523-0BC8-4D5A-871C-69C0725E7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389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5CC0FFF-AEA6-B23B-B3CA-84FF46ACC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Ciljevi diplomskog rada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3744A97B-6718-A7A0-017B-E1DD4B6F9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Android aplikacija za praćenje zaliha i planiranje obroka</a:t>
            </a:r>
          </a:p>
          <a:p>
            <a:r>
              <a:rPr lang="hr-HR" dirty="0"/>
              <a:t>Upravljanje receptima i popisom za trgovinu</a:t>
            </a:r>
          </a:p>
          <a:p>
            <a:r>
              <a:rPr lang="hr-HR" dirty="0"/>
              <a:t>Preporuke recepata</a:t>
            </a:r>
          </a:p>
          <a:p>
            <a:r>
              <a:rPr lang="hr-HR" dirty="0"/>
              <a:t>Usporedba kvalitete dvaju pristupa</a:t>
            </a:r>
          </a:p>
          <a:p>
            <a:r>
              <a:rPr lang="hr-HR" dirty="0"/>
              <a:t>Jedinični i funkcionalni testovi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63835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8CF38C2-838D-EE82-8B47-3126E9A21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953325"/>
            <a:ext cx="9603275" cy="768944"/>
          </a:xfrm>
        </p:spPr>
        <p:txBody>
          <a:bodyPr/>
          <a:lstStyle/>
          <a:p>
            <a:r>
              <a:rPr lang="hr-HR" dirty="0"/>
              <a:t>Funkcionalni zahtjevi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D3FA4E1-A47F-A7E6-7467-76E59DEC2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1802166"/>
            <a:ext cx="9931460" cy="4306695"/>
          </a:xfrm>
        </p:spPr>
        <p:txBody>
          <a:bodyPr>
            <a:normAutofit fontScale="92500" lnSpcReduction="10000"/>
          </a:bodyPr>
          <a:lstStyle/>
          <a:p>
            <a:r>
              <a:rPr lang="hr-HR" dirty="0"/>
              <a:t>Registracija, prijava korisnika uz validaciju forme</a:t>
            </a:r>
          </a:p>
          <a:p>
            <a:r>
              <a:rPr lang="hr-HR" dirty="0"/>
              <a:t>Održavanje sesije prijavljenog korisnika</a:t>
            </a:r>
          </a:p>
          <a:p>
            <a:r>
              <a:rPr lang="hr-HR" dirty="0"/>
              <a:t>Zalihe namirnica – praćenje, dodavanje, brisanje, uređivanje, praćenje minimalne količine te roka trajanja</a:t>
            </a:r>
          </a:p>
          <a:p>
            <a:r>
              <a:rPr lang="hr-HR" dirty="0"/>
              <a:t>Popis za trgovinu – dodavanje, brisanje, uređivanje, „kupnja” stavke</a:t>
            </a:r>
          </a:p>
          <a:p>
            <a:r>
              <a:rPr lang="hr-HR" dirty="0"/>
              <a:t>Upravljanje receptima – pregled, pretraživanje, pregled detalja, dodavanje, uređivanje i brisanje, praćenje nedostajućih namirnica</a:t>
            </a:r>
          </a:p>
          <a:p>
            <a:r>
              <a:rPr lang="hr-HR" dirty="0"/>
              <a:t>Planiranje obroka – kroz 3 dana, dodavanje, brisanje, uređivanje, „izvršenje” obroka</a:t>
            </a:r>
          </a:p>
          <a:p>
            <a:r>
              <a:rPr lang="hr-HR" dirty="0"/>
              <a:t>Preporuke recepata pomoću heuristike i strojnog učenja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29971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34A27CE-F91E-A167-689E-972D939E4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Nefunkcionalni zahtjevi	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794A81D-6988-6120-899D-D1C3240C3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Sigurnost lozinki</a:t>
            </a:r>
          </a:p>
          <a:p>
            <a:r>
              <a:rPr lang="hr-HR" dirty="0"/>
              <a:t>Ulazne validacije i obrada grešaka</a:t>
            </a:r>
          </a:p>
          <a:p>
            <a:r>
              <a:rPr lang="hr-HR" dirty="0"/>
              <a:t>Jedinični testovi za poslovnu logiku</a:t>
            </a:r>
          </a:p>
          <a:p>
            <a:r>
              <a:rPr lang="hr-HR" dirty="0"/>
              <a:t>Integracijski testovi za ključne funkcionalne tokove</a:t>
            </a:r>
          </a:p>
          <a:p>
            <a:r>
              <a:rPr lang="hr-HR" dirty="0"/>
              <a:t>Mjerenje pokrivenosti testovima</a:t>
            </a:r>
          </a:p>
          <a:p>
            <a:r>
              <a:rPr lang="hr-HR" dirty="0"/>
              <a:t>Prilagođenost svim dobnim skupinama</a:t>
            </a:r>
          </a:p>
        </p:txBody>
      </p:sp>
    </p:spTree>
    <p:extLst>
      <p:ext uri="{BB962C8B-B14F-4D97-AF65-F5344CB8AC3E}">
        <p14:creationId xmlns:p14="http://schemas.microsoft.com/office/powerpoint/2010/main" val="64735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8B2338F-96CA-6E81-5E32-60C22CD53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Arhitektura aplikacije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A42F56F0-98C0-D709-2C73-FE2528F3E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Višeslojna klijentska arhitektura</a:t>
            </a:r>
          </a:p>
          <a:p>
            <a:r>
              <a:rPr lang="hr-HR" dirty="0"/>
              <a:t>Prezentacijski sloj – zasloni aplikacije </a:t>
            </a:r>
          </a:p>
          <a:p>
            <a:r>
              <a:rPr lang="hr-HR" dirty="0"/>
              <a:t>Podatkovni sloj – datoteke u kojima se radi s bazom podataka</a:t>
            </a:r>
          </a:p>
          <a:p>
            <a:r>
              <a:rPr lang="hr-HR" dirty="0"/>
              <a:t>Poslovna logika – datoteke za obradu heuristike i strojnog učenja</a:t>
            </a:r>
          </a:p>
          <a:p>
            <a:r>
              <a:rPr lang="hr-HR" dirty="0" err="1"/>
              <a:t>SharedPreferences</a:t>
            </a:r>
            <a:r>
              <a:rPr lang="hr-HR" dirty="0"/>
              <a:t> – stanje korisničke sesije</a:t>
            </a:r>
          </a:p>
        </p:txBody>
      </p:sp>
    </p:spTree>
    <p:extLst>
      <p:ext uri="{BB962C8B-B14F-4D97-AF65-F5344CB8AC3E}">
        <p14:creationId xmlns:p14="http://schemas.microsoft.com/office/powerpoint/2010/main" val="3240405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014BF94-4DFC-4A65-99BF-76277891E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55C7B1-10DA-4D61-B560-5E1F081B3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00EB5522-55B8-3D31-CC8B-30D8FE0BA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028" y="948706"/>
            <a:ext cx="4507707" cy="1049235"/>
          </a:xfrm>
        </p:spPr>
        <p:txBody>
          <a:bodyPr>
            <a:normAutofit/>
          </a:bodyPr>
          <a:lstStyle/>
          <a:p>
            <a:r>
              <a:rPr lang="hr-HR" dirty="0"/>
              <a:t>Baza podataka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8C29B8B-A62C-43CE-92FF-12EAA1D0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60419" b="36564"/>
          <a:stretch/>
        </p:blipFill>
        <p:spPr>
          <a:xfrm>
            <a:off x="1125460" y="643464"/>
            <a:ext cx="4526280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64BC2FB-B11D-82F7-E4B5-8350ECF43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030" y="2167151"/>
            <a:ext cx="4503066" cy="3299194"/>
          </a:xfrm>
        </p:spPr>
        <p:txBody>
          <a:bodyPr>
            <a:normAutofit/>
          </a:bodyPr>
          <a:lstStyle/>
          <a:p>
            <a:r>
              <a:rPr lang="hr-HR" dirty="0"/>
              <a:t>Microsoft SQL Server</a:t>
            </a:r>
          </a:p>
          <a:p>
            <a:r>
              <a:rPr lang="hr-HR" dirty="0"/>
              <a:t>10 međusobno povezanih tablica</a:t>
            </a:r>
          </a:p>
          <a:p>
            <a:r>
              <a:rPr lang="hr-HR" dirty="0"/>
              <a:t>Ključni entiteti: Korisnik, Zaliha, Recept i </a:t>
            </a:r>
            <a:r>
              <a:rPr lang="hr-HR" dirty="0" err="1"/>
              <a:t>PlanObroka</a:t>
            </a:r>
            <a:endParaRPr lang="hr-HR" dirty="0"/>
          </a:p>
          <a:p>
            <a:r>
              <a:rPr lang="hr-HR" dirty="0"/>
              <a:t>Pomoću ključeva povezujemo tablice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873EA42-E9E9-4806-A9F6-1718BE38B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99D5523-0BC8-4D5A-871C-69C0725E7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Slika 4" descr="Slika na kojoj se prikazuje tekst, dijagram, Plan, paralelno&#10;&#10;Opis je automatski generiran">
            <a:extLst>
              <a:ext uri="{FF2B5EF4-FFF2-40B4-BE49-F238E27FC236}">
                <a16:creationId xmlns:a16="http://schemas.microsoft.com/office/drawing/2014/main" id="{A28018E9-0DF9-6789-22E7-AB41E3A35A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7804"/>
            <a:ext cx="5295899" cy="634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789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6151FAE-6A31-40F6-AFF0-8EEC1F7F6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A73147-96C3-4202-86C3-ABA93B4D3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64A9A294-D207-8AAE-705F-46A019B37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029" y="948706"/>
            <a:ext cx="3852444" cy="1049235"/>
          </a:xfrm>
        </p:spPr>
        <p:txBody>
          <a:bodyPr>
            <a:normAutofit/>
          </a:bodyPr>
          <a:lstStyle/>
          <a:p>
            <a:r>
              <a:rPr lang="hr-HR" dirty="0"/>
              <a:t>Prijava, registracija i profil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3364E99-7BC0-4CEE-B8AC-0C3500F1C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66353" b="36564"/>
          <a:stretch/>
        </p:blipFill>
        <p:spPr>
          <a:xfrm>
            <a:off x="1125460" y="643464"/>
            <a:ext cx="3849624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8D4FAA90-41CE-6CF5-B6D1-9FCB94150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030" y="2167151"/>
            <a:ext cx="3848478" cy="3299194"/>
          </a:xfrm>
        </p:spPr>
        <p:txBody>
          <a:bodyPr>
            <a:normAutofit/>
          </a:bodyPr>
          <a:lstStyle/>
          <a:p>
            <a:r>
              <a:rPr lang="hr-HR" dirty="0"/>
              <a:t>Validacija forme</a:t>
            </a:r>
          </a:p>
          <a:p>
            <a:r>
              <a:rPr lang="hr-HR" dirty="0"/>
              <a:t>Lokalno stanje sesije</a:t>
            </a:r>
          </a:p>
          <a:p>
            <a:r>
              <a:rPr lang="hr-HR" dirty="0"/>
              <a:t>Kod registracije dodatno upisivanje imena i prezimena</a:t>
            </a:r>
            <a:endParaRPr lang="en-US" dirty="0"/>
          </a:p>
        </p:txBody>
      </p:sp>
      <p:pic>
        <p:nvPicPr>
          <p:cNvPr id="5" name="Rezervirano mjesto sadržaja 4" descr="Slika na kojoj se prikazuje snimka zaslona, Mobitel, mobilni uređaj&#10;&#10;Opis je automatski generiran">
            <a:extLst>
              <a:ext uri="{FF2B5EF4-FFF2-40B4-BE49-F238E27FC236}">
                <a16:creationId xmlns:a16="http://schemas.microsoft.com/office/drawing/2014/main" id="{E4567600-5137-DE3C-2E6C-3E0F1A5A1F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011" y="481109"/>
            <a:ext cx="2407289" cy="5149284"/>
          </a:xfrm>
          <a:prstGeom prst="rect">
            <a:avLst/>
          </a:prstGeom>
        </p:spPr>
      </p:pic>
      <p:pic>
        <p:nvPicPr>
          <p:cNvPr id="7" name="Rezervirano mjesto sadržaja 6" descr="Slika na kojoj se prikazuje tekst, snimka zaslona, Mobitel, mobilni uređaj&#10;&#10;Opis je automatski generiran">
            <a:extLst>
              <a:ext uri="{FF2B5EF4-FFF2-40B4-BE49-F238E27FC236}">
                <a16:creationId xmlns:a16="http://schemas.microsoft.com/office/drawing/2014/main" id="{2ECC036F-7BC7-34F3-FCFA-870A260F3B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2519" y="480046"/>
            <a:ext cx="2407786" cy="515034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2D00C49-0B07-4263-ADC8-E72F07E27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F2787A3-D6E8-4E6A-82FC-9BDAF8C5D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291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B22EA398-4374-4CF8-8C8E-B9D080968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FA94FCAD-3B63-47CA-BA7E-CFC913279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D9F0A52-8CBD-446F-8787-23B80892C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2ECB0E24-4227-4584-B815-0193BB1CC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1706E21-57B4-449F-9AF0-DCB9626C5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90A39B8-0842-49A0-8442-C3E12275E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55FAE6C3-3C8F-0968-CE8B-5673BF842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589" y="367700"/>
            <a:ext cx="7831992" cy="5515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/>
              <a:t>Zalihe namirnica</a:t>
            </a:r>
            <a:endParaRPr lang="en-US" sz="3600" dirty="0"/>
          </a:p>
        </p:txBody>
      </p:sp>
      <p:pic>
        <p:nvPicPr>
          <p:cNvPr id="9" name="Slika 8" descr="Slika na kojoj se prikazuje tekst, elektronika, snimka zaslona, multimedija&#10;&#10;Opis je automatski generiran">
            <a:extLst>
              <a:ext uri="{FF2B5EF4-FFF2-40B4-BE49-F238E27FC236}">
                <a16:creationId xmlns:a16="http://schemas.microsoft.com/office/drawing/2014/main" id="{1EEBF079-0C1B-5399-037D-741487CCA5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99" y="1097526"/>
            <a:ext cx="3857625" cy="485235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C77E6BF-0086-479C-BAA2-ECC7F60F5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E8F78B4-34AE-4B2A-A86F-45805BB75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Rezervirano mjesto sadržaja 4" descr="Slika na kojoj se prikazuje snimka zaslona, tekst, Mobitel, mobilni uređaj&#10;&#10;Opis je automatski generiran">
            <a:extLst>
              <a:ext uri="{FF2B5EF4-FFF2-40B4-BE49-F238E27FC236}">
                <a16:creationId xmlns:a16="http://schemas.microsoft.com/office/drawing/2014/main" id="{611482B2-E1F6-A63B-030D-B9C2F6C5FD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46" y="1085686"/>
            <a:ext cx="2653812" cy="5646411"/>
          </a:xfrm>
          <a:prstGeom prst="rect">
            <a:avLst/>
          </a:prstGeom>
        </p:spPr>
      </p:pic>
      <p:pic>
        <p:nvPicPr>
          <p:cNvPr id="7" name="Slika 6" descr="Slika na kojoj se prikazuje tekst, elektronika, snimka zaslona, softver&#10;&#10;Opis je automatski generiran">
            <a:extLst>
              <a:ext uri="{FF2B5EF4-FFF2-40B4-BE49-F238E27FC236}">
                <a16:creationId xmlns:a16="http://schemas.microsoft.com/office/drawing/2014/main" id="{3ABFE440-F089-51DD-F659-FCF503AC78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419" y="1085687"/>
            <a:ext cx="3309431" cy="486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856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6151FAE-6A31-40F6-AFF0-8EEC1F7F6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2A73147-96C3-4202-86C3-ABA93B4D3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92AC0515-E3FB-DA3B-A4F8-6736A2DBA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029" y="948706"/>
            <a:ext cx="3852444" cy="1049235"/>
          </a:xfrm>
        </p:spPr>
        <p:txBody>
          <a:bodyPr vert="horz" lIns="91440" tIns="45720" rIns="91440" bIns="0" rtlCol="0">
            <a:normAutofit/>
          </a:bodyPr>
          <a:lstStyle/>
          <a:p>
            <a:r>
              <a:rPr lang="en-US"/>
              <a:t>Popis za trgovinu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3364E99-7BC0-4CEE-B8AC-0C3500F1C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66353" b="36564"/>
          <a:stretch/>
        </p:blipFill>
        <p:spPr>
          <a:xfrm>
            <a:off x="1125460" y="643464"/>
            <a:ext cx="3849624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56AD0564-A458-0AE3-51E5-7D01418F0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030" y="2167151"/>
            <a:ext cx="3848478" cy="3299194"/>
          </a:xfrm>
        </p:spPr>
        <p:txBody>
          <a:bodyPr>
            <a:normAutofit/>
          </a:bodyPr>
          <a:lstStyle/>
          <a:p>
            <a:r>
              <a:rPr lang="hr-HR" dirty="0"/>
              <a:t>Dodavanje potrebnih namirnica</a:t>
            </a:r>
          </a:p>
          <a:p>
            <a:r>
              <a:rPr lang="hr-HR" dirty="0"/>
              <a:t>Akcija „kupljeno”</a:t>
            </a:r>
          </a:p>
          <a:p>
            <a:r>
              <a:rPr lang="hr-HR" dirty="0"/>
              <a:t>Nakon unosa roka trajanja, količina se prenosi u zalihe</a:t>
            </a:r>
            <a:endParaRPr lang="en-US" dirty="0"/>
          </a:p>
        </p:txBody>
      </p:sp>
      <p:pic>
        <p:nvPicPr>
          <p:cNvPr id="7" name="Slika 6" descr="Slika na kojoj se prikazuje tekst, snimka zaslona, Font, broj&#10;&#10;Opis je automatski generiran">
            <a:extLst>
              <a:ext uri="{FF2B5EF4-FFF2-40B4-BE49-F238E27FC236}">
                <a16:creationId xmlns:a16="http://schemas.microsoft.com/office/drawing/2014/main" id="{0D91F4C8-0E81-F295-3A4B-A1CF396A5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6640" y="1677476"/>
            <a:ext cx="2964032" cy="2756550"/>
          </a:xfrm>
          <a:prstGeom prst="rect">
            <a:avLst/>
          </a:prstGeom>
        </p:spPr>
      </p:pic>
      <p:pic>
        <p:nvPicPr>
          <p:cNvPr id="5" name="Rezervirano mjesto sadržaja 4" descr="Slika na kojoj se prikazuje tekst, snimka zaslona, Mobitel, mobilni uređaj&#10;&#10;Opis je automatski generiran">
            <a:extLst>
              <a:ext uri="{FF2B5EF4-FFF2-40B4-BE49-F238E27FC236}">
                <a16:creationId xmlns:a16="http://schemas.microsoft.com/office/drawing/2014/main" id="{C17B0406-E636-3A5C-A82B-0D0C9A4B7E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767" y="480046"/>
            <a:ext cx="2459291" cy="515034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2D00C49-0B07-4263-ADC8-E72F07E27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F2787A3-D6E8-4E6A-82FC-9BDAF8C5D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579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6151FAE-6A31-40F6-AFF0-8EEC1F7F6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A73147-96C3-4202-86C3-ABA93B4D3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E6E3D2E4-BEBD-611D-7866-4BAD1B59B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029" y="948706"/>
            <a:ext cx="3852444" cy="1049235"/>
          </a:xfrm>
        </p:spPr>
        <p:txBody>
          <a:bodyPr>
            <a:normAutofit/>
          </a:bodyPr>
          <a:lstStyle/>
          <a:p>
            <a:r>
              <a:rPr lang="hr-HR" dirty="0"/>
              <a:t>Upravljanje receptima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3364E99-7BC0-4CEE-B8AC-0C3500F1C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66353" b="36564"/>
          <a:stretch/>
        </p:blipFill>
        <p:spPr>
          <a:xfrm>
            <a:off x="1125460" y="643464"/>
            <a:ext cx="3849624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74500BD-4C54-EF13-0BD9-83B9C6766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030" y="2167151"/>
            <a:ext cx="3848478" cy="3299194"/>
          </a:xfrm>
        </p:spPr>
        <p:txBody>
          <a:bodyPr>
            <a:normAutofit/>
          </a:bodyPr>
          <a:lstStyle/>
          <a:p>
            <a:r>
              <a:rPr lang="hr-HR" dirty="0"/>
              <a:t>Pregled i pretraživanje</a:t>
            </a:r>
          </a:p>
          <a:p>
            <a:r>
              <a:rPr lang="hr-HR" dirty="0"/>
              <a:t>Uređivanje/brisanje samo vlastitih recepata</a:t>
            </a:r>
          </a:p>
          <a:p>
            <a:r>
              <a:rPr lang="hr-HR" dirty="0"/>
              <a:t>Dodavanje vlastitih recepata</a:t>
            </a:r>
            <a:endParaRPr lang="en-US" dirty="0"/>
          </a:p>
        </p:txBody>
      </p:sp>
      <p:pic>
        <p:nvPicPr>
          <p:cNvPr id="9" name="Slika 8" descr="Slika na kojoj se prikazuje tekst, snimka zaslona, Font, broj&#10;&#10;Opis je automatski generiran">
            <a:extLst>
              <a:ext uri="{FF2B5EF4-FFF2-40B4-BE49-F238E27FC236}">
                <a16:creationId xmlns:a16="http://schemas.microsoft.com/office/drawing/2014/main" id="{3919E0AA-6A4E-90C0-F944-028202234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98" y="478984"/>
            <a:ext cx="2587515" cy="5149284"/>
          </a:xfrm>
          <a:prstGeom prst="rect">
            <a:avLst/>
          </a:prstGeom>
        </p:spPr>
      </p:pic>
      <p:pic>
        <p:nvPicPr>
          <p:cNvPr id="5" name="Rezervirano mjesto sadržaja 4" descr="Slika na kojoj se prikazuje tekst, snimka zaslona, mobilni uređaj, uređaj za komunikaciju&#10;&#10;Opis je automatski generiran">
            <a:extLst>
              <a:ext uri="{FF2B5EF4-FFF2-40B4-BE49-F238E27FC236}">
                <a16:creationId xmlns:a16="http://schemas.microsoft.com/office/drawing/2014/main" id="{4038DEE7-901D-7432-985F-7164D1F9CC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711" y="478984"/>
            <a:ext cx="2446414" cy="515034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2D00C49-0B07-4263-ADC8-E72F07E27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F2787A3-D6E8-4E6A-82FC-9BDAF8C5D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5627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8C13B18-842F-1055-29E1-32972284F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Detalji i pretraživanje recepata</a:t>
            </a:r>
          </a:p>
        </p:txBody>
      </p:sp>
      <p:pic>
        <p:nvPicPr>
          <p:cNvPr id="9" name="Slika 8" descr="Slika na kojoj se prikazuje tekst, snimka zaslona, Font, crta&#10;&#10;Opis je automatski generiran">
            <a:extLst>
              <a:ext uri="{FF2B5EF4-FFF2-40B4-BE49-F238E27FC236}">
                <a16:creationId xmlns:a16="http://schemas.microsoft.com/office/drawing/2014/main" id="{F6427142-95AD-EF1E-D484-A008B8FBF3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907" y="1754885"/>
            <a:ext cx="4272633" cy="2815203"/>
          </a:xfrm>
          <a:prstGeom prst="rect">
            <a:avLst/>
          </a:prstGeom>
        </p:spPr>
      </p:pic>
      <p:pic>
        <p:nvPicPr>
          <p:cNvPr id="7" name="Slika 6" descr="Slika na kojoj se prikazuje tekst, snimka zaslona, Font, dizajn&#10;&#10;Opis je automatski generiran">
            <a:extLst>
              <a:ext uri="{FF2B5EF4-FFF2-40B4-BE49-F238E27FC236}">
                <a16:creationId xmlns:a16="http://schemas.microsoft.com/office/drawing/2014/main" id="{286882C7-BDD9-CADA-FF66-7015EB495D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939" y="1754885"/>
            <a:ext cx="2862736" cy="334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401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014BF94-4DFC-4A65-99BF-76277891E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55C7B1-10DA-4D61-B560-5E1F081B3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C510BEF9-D535-C26C-2BE4-EA76DCAAF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028" y="948706"/>
            <a:ext cx="4507707" cy="1049235"/>
          </a:xfrm>
        </p:spPr>
        <p:txBody>
          <a:bodyPr>
            <a:normAutofit/>
          </a:bodyPr>
          <a:lstStyle/>
          <a:p>
            <a:r>
              <a:rPr lang="hr-HR" dirty="0"/>
              <a:t>Planiranje obroka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8C29B8B-A62C-43CE-92FF-12EAA1D0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60419" b="36564"/>
          <a:stretch/>
        </p:blipFill>
        <p:spPr>
          <a:xfrm>
            <a:off x="1125460" y="643464"/>
            <a:ext cx="4526280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BD77FEE-764B-A77F-CD06-EE1F574A1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030" y="2167151"/>
            <a:ext cx="4503066" cy="3299194"/>
          </a:xfrm>
        </p:spPr>
        <p:txBody>
          <a:bodyPr>
            <a:normAutofit/>
          </a:bodyPr>
          <a:lstStyle/>
          <a:p>
            <a:r>
              <a:rPr lang="hr-HR" dirty="0"/>
              <a:t>Plan za sljedeća 3 dana</a:t>
            </a:r>
          </a:p>
          <a:p>
            <a:r>
              <a:rPr lang="hr-HR" dirty="0"/>
              <a:t>Doručak, ručak, večera</a:t>
            </a:r>
          </a:p>
          <a:p>
            <a:r>
              <a:rPr lang="hr-HR" dirty="0"/>
              <a:t>Ručno biranje recepata ili odabir preporuke</a:t>
            </a:r>
          </a:p>
          <a:p>
            <a:r>
              <a:rPr lang="hr-HR" dirty="0"/>
              <a:t>Izvršavanje recepta – sustav smanjuje količine u zalihama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Rezervirano mjesto sadržaja 4" descr="Slika na kojoj se prikazuje snimka zaslona, Mobitel, mobilni uređaj, uređaj za komunikaciju&#10;&#10;Opis je automatski generiran">
            <a:extLst>
              <a:ext uri="{FF2B5EF4-FFF2-40B4-BE49-F238E27FC236}">
                <a16:creationId xmlns:a16="http://schemas.microsoft.com/office/drawing/2014/main" id="{49CBB53A-37F2-C49C-5D5D-AC80FCB570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69" y="464483"/>
            <a:ext cx="2571649" cy="5414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873EA42-E9E9-4806-A9F6-1718BE38B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99D5523-0BC8-4D5A-871C-69C0725E7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Slika 6" descr="Slika na kojoj se prikazuje tekst, snimka zaslona, Font&#10;&#10;Opis je automatski generiran">
            <a:extLst>
              <a:ext uri="{FF2B5EF4-FFF2-40B4-BE49-F238E27FC236}">
                <a16:creationId xmlns:a16="http://schemas.microsoft.com/office/drawing/2014/main" id="{3A8310D9-9FEE-668E-901D-38192685DA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416" y="1738799"/>
            <a:ext cx="2568163" cy="286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672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EF19E34-334A-601A-9544-BCCCD091E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Dva pristupa preporukama	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8EE2A773-28F5-42A5-31C9-C98738668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1606859"/>
            <a:ext cx="9931460" cy="4456590"/>
          </a:xfrm>
        </p:spPr>
        <p:txBody>
          <a:bodyPr>
            <a:normAutofit/>
          </a:bodyPr>
          <a:lstStyle/>
          <a:p>
            <a:r>
              <a:rPr lang="hr-HR" dirty="0"/>
              <a:t>Strojno učenje</a:t>
            </a:r>
          </a:p>
          <a:p>
            <a:pPr lvl="1"/>
            <a:r>
              <a:rPr lang="hr-HR" dirty="0"/>
              <a:t>Koeficijenti naučeni iz podataka</a:t>
            </a:r>
          </a:p>
          <a:p>
            <a:pPr lvl="1"/>
            <a:r>
              <a:rPr lang="hr-HR" dirty="0"/>
              <a:t>Logistička regresija</a:t>
            </a:r>
          </a:p>
          <a:p>
            <a:r>
              <a:rPr lang="hr-HR" dirty="0"/>
              <a:t>Heuristika</a:t>
            </a:r>
          </a:p>
          <a:p>
            <a:pPr lvl="1"/>
            <a:r>
              <a:rPr lang="hr-HR" dirty="0"/>
              <a:t>Ručno definirane težine</a:t>
            </a:r>
          </a:p>
          <a:p>
            <a:pPr lvl="1"/>
            <a:r>
              <a:rPr lang="hr-HR" dirty="0"/>
              <a:t>Jednostavniji i transparentniji pristup</a:t>
            </a:r>
          </a:p>
          <a:p>
            <a:r>
              <a:rPr lang="hr-HR" dirty="0"/>
              <a:t>Oba pristupa koriste slične ulazne parametre i vraćaju 3 najbolje preporuke</a:t>
            </a:r>
          </a:p>
          <a:p>
            <a:r>
              <a:rPr lang="hr-HR" dirty="0"/>
              <a:t>Ulazne značajke za preporuke: vrijeme pripreme, pokrivenost zaliha, prioritet roka trajanja, prethodni odabiri, prethodna izvršenja</a:t>
            </a:r>
          </a:p>
          <a:p>
            <a:pPr marL="457200" lvl="1" indent="0">
              <a:buNone/>
            </a:pP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433154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9DBF7C5-8C58-3F01-C1B9-6CF9A78BD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Strojno učenje – treniranje modela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CB647E19-4B99-B2FC-8E26-E44F177C9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1560865"/>
            <a:ext cx="9603275" cy="4165231"/>
          </a:xfrm>
        </p:spPr>
        <p:txBody>
          <a:bodyPr>
            <a:normAutofit/>
          </a:bodyPr>
          <a:lstStyle/>
          <a:p>
            <a:r>
              <a:rPr lang="hr-HR" dirty="0"/>
              <a:t>Python skripta ml.py</a:t>
            </a:r>
          </a:p>
          <a:p>
            <a:r>
              <a:rPr lang="hr-HR" dirty="0" err="1"/>
              <a:t>Pandas</a:t>
            </a:r>
            <a:r>
              <a:rPr lang="hr-HR" dirty="0"/>
              <a:t> + </a:t>
            </a:r>
            <a:r>
              <a:rPr lang="hr-HR" dirty="0" err="1"/>
              <a:t>scikit-learn</a:t>
            </a:r>
            <a:endParaRPr lang="hr-HR" dirty="0"/>
          </a:p>
          <a:p>
            <a:r>
              <a:rPr lang="hr-HR" dirty="0"/>
              <a:t>Logistička regresija</a:t>
            </a:r>
          </a:p>
          <a:p>
            <a:r>
              <a:rPr lang="hr-HR" dirty="0"/>
              <a:t>Podjela podataka: 80% trening, 20% test</a:t>
            </a:r>
          </a:p>
          <a:p>
            <a:r>
              <a:rPr lang="hr-HR" dirty="0" err="1"/>
              <a:t>StandardScaler</a:t>
            </a:r>
            <a:r>
              <a:rPr lang="hr-HR" dirty="0"/>
              <a:t> za usporedivu skalu značajki</a:t>
            </a:r>
          </a:p>
          <a:p>
            <a:r>
              <a:rPr lang="hr-HR" dirty="0"/>
              <a:t>Jedan zajednički model za sve korisnike</a:t>
            </a:r>
          </a:p>
          <a:p>
            <a:r>
              <a:rPr lang="hr-HR" dirty="0"/>
              <a:t>Dataset.csv -&gt; </a:t>
            </a:r>
            <a:r>
              <a:rPr lang="hr-HR" dirty="0" err="1"/>
              <a:t>StandardScaler</a:t>
            </a:r>
            <a:r>
              <a:rPr lang="hr-HR" dirty="0"/>
              <a:t> -&gt; Logistička regresija -&gt; </a:t>
            </a:r>
            <a:r>
              <a:rPr lang="hr-HR" dirty="0" err="1"/>
              <a:t>weights.json</a:t>
            </a:r>
            <a:r>
              <a:rPr lang="hr-HR" dirty="0"/>
              <a:t> -&gt; aplikacija</a:t>
            </a:r>
          </a:p>
        </p:txBody>
      </p:sp>
    </p:spTree>
    <p:extLst>
      <p:ext uri="{BB962C8B-B14F-4D97-AF65-F5344CB8AC3E}">
        <p14:creationId xmlns:p14="http://schemas.microsoft.com/office/powerpoint/2010/main" val="1812022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1BE9560-90E1-69DC-232A-40DB7BD7B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Strojno učenje – rad u aplikaciji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8D92D283-7FDB-481D-1E5E-618AF2D76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err="1"/>
              <a:t>ml_scoring.dart</a:t>
            </a:r>
            <a:r>
              <a:rPr lang="hr-HR" dirty="0"/>
              <a:t> učitava </a:t>
            </a:r>
            <a:r>
              <a:rPr lang="hr-HR" dirty="0" err="1"/>
              <a:t>paremetre</a:t>
            </a:r>
            <a:r>
              <a:rPr lang="hr-HR" dirty="0"/>
              <a:t> iz </a:t>
            </a:r>
            <a:r>
              <a:rPr lang="hr-HR" dirty="0" err="1"/>
              <a:t>weights.json</a:t>
            </a:r>
            <a:endParaRPr lang="hr-HR" dirty="0"/>
          </a:p>
          <a:p>
            <a:r>
              <a:rPr lang="hr-HR" dirty="0"/>
              <a:t>Izračun linearnog rezultata + </a:t>
            </a:r>
            <a:r>
              <a:rPr lang="hr-HR" dirty="0" err="1"/>
              <a:t>sigmoidna</a:t>
            </a:r>
            <a:r>
              <a:rPr lang="hr-HR" dirty="0"/>
              <a:t> funkcija</a:t>
            </a:r>
          </a:p>
          <a:p>
            <a:r>
              <a:rPr lang="hr-HR" dirty="0"/>
              <a:t>Za svaki recept dobiva se vjerojatnost 0-1</a:t>
            </a:r>
          </a:p>
          <a:p>
            <a:r>
              <a:rPr lang="hr-HR" dirty="0"/>
              <a:t>Recepti se sortiraju i prikazuju se prva 3 prijedloga</a:t>
            </a:r>
          </a:p>
          <a:p>
            <a:r>
              <a:rPr lang="hr-HR" dirty="0"/>
              <a:t>Preferencije se ne unose ručno – uče se iz ponašanja</a:t>
            </a:r>
          </a:p>
        </p:txBody>
      </p:sp>
      <p:pic>
        <p:nvPicPr>
          <p:cNvPr id="5" name="Slika 4" descr="Slika na kojoj se prikazuje tekst, snimka zaslona, Font, bijelo&#10;&#10;Opis je automatski generiran">
            <a:extLst>
              <a:ext uri="{FF2B5EF4-FFF2-40B4-BE49-F238E27FC236}">
                <a16:creationId xmlns:a16="http://schemas.microsoft.com/office/drawing/2014/main" id="{0CBB067B-CAAC-68BC-2557-C93971318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8529" y="2381250"/>
            <a:ext cx="3738523" cy="157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604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6A99F6D-A7AF-B4F5-2863-F0423DB31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Heuristički pristup</a:t>
            </a:r>
            <a:br>
              <a:rPr lang="hr-HR" dirty="0"/>
            </a:br>
            <a:r>
              <a:rPr lang="hr-HR" dirty="0"/>
              <a:t>	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F133B63-EA45-84C1-1A8A-6C89B2521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Ponderirani zbroj – ukupno 100 bodova</a:t>
            </a:r>
          </a:p>
          <a:p>
            <a:r>
              <a:rPr lang="hr-HR" dirty="0"/>
              <a:t>Pokrivenost zaliha : 25</a:t>
            </a:r>
          </a:p>
          <a:p>
            <a:r>
              <a:rPr lang="hr-HR" dirty="0"/>
              <a:t>Prioritet roka trajanja: 15</a:t>
            </a:r>
          </a:p>
          <a:p>
            <a:r>
              <a:rPr lang="hr-HR" dirty="0"/>
              <a:t>Vrijeme pripreme: 5</a:t>
            </a:r>
          </a:p>
          <a:p>
            <a:r>
              <a:rPr lang="hr-HR" dirty="0"/>
              <a:t>Prethodni odabiri: 20</a:t>
            </a:r>
          </a:p>
          <a:p>
            <a:r>
              <a:rPr lang="hr-HR" dirty="0"/>
              <a:t>Prethodna izvršenja: 35</a:t>
            </a:r>
          </a:p>
        </p:txBody>
      </p:sp>
    </p:spTree>
    <p:extLst>
      <p:ext uri="{BB962C8B-B14F-4D97-AF65-F5344CB8AC3E}">
        <p14:creationId xmlns:p14="http://schemas.microsoft.com/office/powerpoint/2010/main" val="3235062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75669F2-A212-83D2-6213-88B4FF196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Primjer preporuka: ML vs heuristika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61478E3-7FF0-8411-37AA-DA2F1CDF4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Isti kandidati, drugačiji način određivanja važnosti kriterija</a:t>
            </a:r>
          </a:p>
          <a:p>
            <a:endParaRPr lang="hr-HR" dirty="0"/>
          </a:p>
        </p:txBody>
      </p:sp>
      <p:pic>
        <p:nvPicPr>
          <p:cNvPr id="5" name="Slika 4" descr="Slika na kojoj se prikazuje tekst, snimka zaslona, Font, bijelo&#10;&#10;Opis je automatski generiran">
            <a:extLst>
              <a:ext uri="{FF2B5EF4-FFF2-40B4-BE49-F238E27FC236}">
                <a16:creationId xmlns:a16="http://schemas.microsoft.com/office/drawing/2014/main" id="{E2B91692-CFB3-328E-27B8-E19FD348E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686" y="2858563"/>
            <a:ext cx="2802339" cy="1140873"/>
          </a:xfrm>
          <a:prstGeom prst="rect">
            <a:avLst/>
          </a:prstGeom>
        </p:spPr>
      </p:pic>
      <p:pic>
        <p:nvPicPr>
          <p:cNvPr id="7" name="Slika 6" descr="Slika na kojoj se prikazuje tekst, snimka zaslona, Font, bijelo&#10;&#10;Opis je automatski generiran">
            <a:extLst>
              <a:ext uri="{FF2B5EF4-FFF2-40B4-BE49-F238E27FC236}">
                <a16:creationId xmlns:a16="http://schemas.microsoft.com/office/drawing/2014/main" id="{1C114C84-0343-8216-802F-BE81115DA1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103" y="2858563"/>
            <a:ext cx="2708997" cy="1141724"/>
          </a:xfrm>
          <a:prstGeom prst="rect">
            <a:avLst/>
          </a:prstGeom>
        </p:spPr>
      </p:pic>
      <p:sp>
        <p:nvSpPr>
          <p:cNvPr id="8" name="TekstniOkvir 7">
            <a:extLst>
              <a:ext uri="{FF2B5EF4-FFF2-40B4-BE49-F238E27FC236}">
                <a16:creationId xmlns:a16="http://schemas.microsoft.com/office/drawing/2014/main" id="{11BEAAB4-BA96-5822-0EEA-2971D22E9AE7}"/>
              </a:ext>
            </a:extLst>
          </p:cNvPr>
          <p:cNvSpPr txBox="1"/>
          <p:nvPr/>
        </p:nvSpPr>
        <p:spPr>
          <a:xfrm>
            <a:off x="3086100" y="4092059"/>
            <a:ext cx="132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Heuristika</a:t>
            </a:r>
          </a:p>
        </p:txBody>
      </p:sp>
      <p:sp>
        <p:nvSpPr>
          <p:cNvPr id="11" name="TekstniOkvir 10">
            <a:extLst>
              <a:ext uri="{FF2B5EF4-FFF2-40B4-BE49-F238E27FC236}">
                <a16:creationId xmlns:a16="http://schemas.microsoft.com/office/drawing/2014/main" id="{F43FA453-0BF9-9B27-BBAB-934E53AC0E1C}"/>
              </a:ext>
            </a:extLst>
          </p:cNvPr>
          <p:cNvSpPr txBox="1"/>
          <p:nvPr/>
        </p:nvSpPr>
        <p:spPr>
          <a:xfrm>
            <a:off x="8313376" y="4069318"/>
            <a:ext cx="552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ML</a:t>
            </a:r>
          </a:p>
        </p:txBody>
      </p:sp>
    </p:spTree>
    <p:extLst>
      <p:ext uri="{BB962C8B-B14F-4D97-AF65-F5344CB8AC3E}">
        <p14:creationId xmlns:p14="http://schemas.microsoft.com/office/powerpoint/2010/main" val="3045704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03B8308-CF78-A51D-1E8A-164343033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Eksperiment za usporedbu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DE34577-21B1-0AE0-5628-C9D832402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r-HR" dirty="0"/>
              <a:t>3 kontrolirana korisnička profila</a:t>
            </a:r>
          </a:p>
          <a:p>
            <a:r>
              <a:rPr lang="hr-HR" dirty="0"/>
              <a:t>Petar -&gt; preferencija piletine</a:t>
            </a:r>
          </a:p>
          <a:p>
            <a:r>
              <a:rPr lang="hr-HR" dirty="0"/>
              <a:t>Jakov -&gt; preferencija junetine</a:t>
            </a:r>
          </a:p>
          <a:p>
            <a:r>
              <a:rPr lang="hr-HR" dirty="0"/>
              <a:t>Stjepan -&gt; preferencija svinjetine</a:t>
            </a:r>
          </a:p>
          <a:p>
            <a:r>
              <a:rPr lang="hr-HR" dirty="0"/>
              <a:t>30 dana * 3 obroka dnevno</a:t>
            </a:r>
          </a:p>
          <a:p>
            <a:r>
              <a:rPr lang="hr-HR" dirty="0"/>
              <a:t>Ukupno 270 zapisa</a:t>
            </a:r>
          </a:p>
          <a:p>
            <a:r>
              <a:rPr lang="hr-HR" dirty="0"/>
              <a:t>Cilj : provjeriti personalizaciju i podudaranje prve 3 preporuke</a:t>
            </a:r>
          </a:p>
        </p:txBody>
      </p:sp>
    </p:spTree>
    <p:extLst>
      <p:ext uri="{BB962C8B-B14F-4D97-AF65-F5344CB8AC3E}">
        <p14:creationId xmlns:p14="http://schemas.microsoft.com/office/powerpoint/2010/main" val="132409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22EA398-4374-4CF8-8C8E-B9D080968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A94FCAD-3B63-47CA-BA7E-CFC913279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D9F0A52-8CBD-446F-8787-23B80892C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2ECB0E24-4227-4584-B815-0193BB1CC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1706E21-57B4-449F-9AF0-DCB9626C5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0A39B8-0842-49A0-8442-C3E12275E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CF3CB5B9-C133-EF4A-3DF6-E5E29B2BE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830" y="736730"/>
            <a:ext cx="7831992" cy="5515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 dirty="0" err="1"/>
              <a:t>Rezultati</a:t>
            </a:r>
            <a:r>
              <a:rPr lang="en-US" sz="3600" dirty="0"/>
              <a:t> </a:t>
            </a:r>
            <a:r>
              <a:rPr lang="en-US" sz="3600" dirty="0" err="1"/>
              <a:t>usporedbe</a:t>
            </a:r>
            <a:r>
              <a:rPr lang="en-US" sz="3600" dirty="0"/>
              <a:t> </a:t>
            </a:r>
            <a:r>
              <a:rPr lang="en-US" sz="3600" dirty="0" err="1"/>
              <a:t>preporuka</a:t>
            </a:r>
            <a:endParaRPr lang="en-US" sz="3600" dirty="0"/>
          </a:p>
        </p:txBody>
      </p:sp>
      <p:pic>
        <p:nvPicPr>
          <p:cNvPr id="9" name="Slika 8" descr="Slika na kojoj se prikazuje tekst, elektronika, snimka zaslona, Mobitel&#10;&#10;Opis je automatski generiran">
            <a:extLst>
              <a:ext uri="{FF2B5EF4-FFF2-40B4-BE49-F238E27FC236}">
                <a16:creationId xmlns:a16="http://schemas.microsoft.com/office/drawing/2014/main" id="{13ECAEB3-484A-BE2A-E6EC-C6B6D3D152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826" y="1757027"/>
            <a:ext cx="1878584" cy="3495040"/>
          </a:xfrm>
          <a:prstGeom prst="rect">
            <a:avLst/>
          </a:prstGeom>
        </p:spPr>
      </p:pic>
      <p:pic>
        <p:nvPicPr>
          <p:cNvPr id="7" name="Slika 6" descr="Slika na kojoj se prikazuje tekst, snimka zaslona, Font, broj&#10;&#10;Opis je automatski generiran">
            <a:extLst>
              <a:ext uri="{FF2B5EF4-FFF2-40B4-BE49-F238E27FC236}">
                <a16:creationId xmlns:a16="http://schemas.microsoft.com/office/drawing/2014/main" id="{7D2AAC7F-C0AE-4B39-F550-6D069C9A22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005" y="1738407"/>
            <a:ext cx="2214834" cy="3495040"/>
          </a:xfrm>
          <a:prstGeom prst="rect">
            <a:avLst/>
          </a:prstGeom>
        </p:spPr>
      </p:pic>
      <p:pic>
        <p:nvPicPr>
          <p:cNvPr id="5" name="Rezervirano mjesto sadržaja 4" descr="Slika na kojoj se prikazuje tekst, elektronika, snimka zaslona, broj&#10;&#10;Opis je automatski generiran">
            <a:extLst>
              <a:ext uri="{FF2B5EF4-FFF2-40B4-BE49-F238E27FC236}">
                <a16:creationId xmlns:a16="http://schemas.microsoft.com/office/drawing/2014/main" id="{CC45ECB8-0099-C92C-C5EE-310D74A657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934" y="1738407"/>
            <a:ext cx="2252359" cy="349504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C77E6BF-0086-479C-BAA2-ECC7F60F5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E8F78B4-34AE-4B2A-A86F-45805BB75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184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FFFBF6E-973F-380F-2ED8-B2835E252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Rezultati usporedbe preporuka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8F578CF8-3F22-8935-3B7B-0F6E887FA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Dolazimo do podudaranja od 77,8% među prva 3 prijedloga</a:t>
            </a:r>
          </a:p>
          <a:p>
            <a:r>
              <a:rPr lang="hr-HR" dirty="0"/>
              <a:t>Oba pristupa dala su dominantne korisničke preferencije</a:t>
            </a:r>
          </a:p>
          <a:p>
            <a:r>
              <a:rPr lang="hr-HR" dirty="0"/>
              <a:t>Razlike su češće bile u poretku nego izboru recepata</a:t>
            </a:r>
          </a:p>
          <a:p>
            <a:r>
              <a:rPr lang="hr-HR" dirty="0"/>
              <a:t>Na korištenom skupu ML nije donio značajno poboljšanje</a:t>
            </a:r>
          </a:p>
          <a:p>
            <a:r>
              <a:rPr lang="hr-HR" dirty="0"/>
              <a:t>Heuristika je dala vrlo slične rezultate uz veću transparentnost</a:t>
            </a:r>
          </a:p>
          <a:p>
            <a:r>
              <a:rPr lang="hr-HR" dirty="0"/>
              <a:t>Glavna prednost ML-a: automatsko učenje koeficijenata i ponovno treniranje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081021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014BF94-4DFC-4A65-99BF-76277891E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55C7B1-10DA-4D61-B560-5E1F081B3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B5A5BAC9-8916-E41C-2306-8BCB8F0D6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028" y="948706"/>
            <a:ext cx="4507707" cy="1049235"/>
          </a:xfrm>
        </p:spPr>
        <p:txBody>
          <a:bodyPr>
            <a:normAutofit/>
          </a:bodyPr>
          <a:lstStyle/>
          <a:p>
            <a:r>
              <a:rPr lang="hr-HR" dirty="0"/>
              <a:t>Jedinični testovi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8C29B8B-A62C-43CE-92FF-12EAA1D0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60419" b="36564"/>
          <a:stretch/>
        </p:blipFill>
        <p:spPr>
          <a:xfrm>
            <a:off x="1125460" y="643464"/>
            <a:ext cx="4526280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6550D7-C8C5-23BC-60B8-5EB788A38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030" y="2167151"/>
            <a:ext cx="4503066" cy="3299194"/>
          </a:xfrm>
        </p:spPr>
        <p:txBody>
          <a:bodyPr>
            <a:normAutofit/>
          </a:bodyPr>
          <a:lstStyle/>
          <a:p>
            <a:r>
              <a:rPr lang="hr-HR" dirty="0"/>
              <a:t>11 datoteka jediničnih testova</a:t>
            </a:r>
          </a:p>
          <a:p>
            <a:r>
              <a:rPr lang="hr-HR" dirty="0"/>
              <a:t>Poslovna logika, validacija, UI tokovi</a:t>
            </a:r>
          </a:p>
          <a:p>
            <a:r>
              <a:rPr lang="hr-HR" dirty="0"/>
              <a:t>Testiranje ML bodovanja i heurističkog rangiranja</a:t>
            </a:r>
          </a:p>
          <a:p>
            <a:r>
              <a:rPr lang="hr-HR" dirty="0"/>
              <a:t>Pokrivenost koda tim testovima: 87,16%</a:t>
            </a:r>
            <a:endParaRPr lang="en-US" dirty="0"/>
          </a:p>
        </p:txBody>
      </p:sp>
      <p:pic>
        <p:nvPicPr>
          <p:cNvPr id="5" name="Rezervirano mjesto sadržaja 4" descr="Slika na kojoj se prikazuje tekst, snimka zaslona, Font&#10;&#10;Opis je automatski generiran">
            <a:extLst>
              <a:ext uri="{FF2B5EF4-FFF2-40B4-BE49-F238E27FC236}">
                <a16:creationId xmlns:a16="http://schemas.microsoft.com/office/drawing/2014/main" id="{7C71E0DE-7FCD-25ED-AC3F-F5F47B76AF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11" y="1356405"/>
            <a:ext cx="4960442" cy="355911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873EA42-E9E9-4806-A9F6-1718BE38B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99D5523-0BC8-4D5A-871C-69C0725E7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5553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FC96CBE-9616-40F3-572B-96B0B8B96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Funkcionalni testovi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3CD4479A-B465-C652-B68F-95BB33630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r-HR"/>
              <a:t>End-to-end testovi pokreću stvarnu aplikaciju</a:t>
            </a:r>
          </a:p>
          <a:p>
            <a:r>
              <a:rPr lang="hr-HR"/>
              <a:t>Prijava i odjava</a:t>
            </a:r>
          </a:p>
          <a:p>
            <a:r>
              <a:rPr lang="hr-HR"/>
              <a:t>Registracija korisnika</a:t>
            </a:r>
          </a:p>
          <a:p>
            <a:r>
              <a:rPr lang="hr-HR"/>
              <a:t>Dodavanje i brisanje recepata</a:t>
            </a:r>
          </a:p>
          <a:p>
            <a:r>
              <a:rPr lang="hr-HR"/>
              <a:t>Tok popisa za trgovinu</a:t>
            </a:r>
          </a:p>
          <a:p>
            <a:r>
              <a:rPr lang="hr-HR"/>
              <a:t>CRUD nad zalihama</a:t>
            </a:r>
          </a:p>
          <a:p>
            <a:r>
              <a:rPr lang="hr-HR"/>
              <a:t>Cilj ovih testova je potvrditi da komponente rade zajedno u stvarnom korisničkom toku</a:t>
            </a:r>
            <a:endParaRPr lang="hr-HR" dirty="0"/>
          </a:p>
        </p:txBody>
      </p:sp>
      <p:pic>
        <p:nvPicPr>
          <p:cNvPr id="5" name="Slika 4" descr="Slika na kojoj se prikazuje tekst, snimka zaslona, Font&#10;&#10;Opis je automatski generiran">
            <a:extLst>
              <a:ext uri="{FF2B5EF4-FFF2-40B4-BE49-F238E27FC236}">
                <a16:creationId xmlns:a16="http://schemas.microsoft.com/office/drawing/2014/main" id="{B5F157C2-0F1F-FADC-F53C-B2628F47B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191" y="2171769"/>
            <a:ext cx="3792866" cy="194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441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5DAC343-EEF5-DB27-0564-F16FDF435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Korištene tehnologije i alati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9541252D-5CFD-028A-84A9-089026867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 err="1"/>
              <a:t>Flutter</a:t>
            </a:r>
            <a:r>
              <a:rPr lang="hr-HR" dirty="0"/>
              <a:t> – korisničko sučelje</a:t>
            </a:r>
          </a:p>
          <a:p>
            <a:r>
              <a:rPr lang="hr-HR" dirty="0" err="1"/>
              <a:t>Dart</a:t>
            </a:r>
            <a:r>
              <a:rPr lang="hr-HR" dirty="0"/>
              <a:t> – programski jezik</a:t>
            </a:r>
          </a:p>
          <a:p>
            <a:r>
              <a:rPr lang="hr-HR" dirty="0"/>
              <a:t>SQL server/SSMS – baza podataka</a:t>
            </a:r>
          </a:p>
          <a:p>
            <a:r>
              <a:rPr lang="hr-HR" dirty="0"/>
              <a:t>Python – treniranje modela</a:t>
            </a:r>
          </a:p>
          <a:p>
            <a:r>
              <a:rPr lang="hr-HR" dirty="0" err="1"/>
              <a:t>GitHub</a:t>
            </a:r>
            <a:r>
              <a:rPr lang="hr-HR" dirty="0"/>
              <a:t> – </a:t>
            </a:r>
            <a:r>
              <a:rPr lang="hr-HR" dirty="0" err="1"/>
              <a:t>verzioniranje</a:t>
            </a:r>
            <a:endParaRPr lang="hr-HR" dirty="0"/>
          </a:p>
          <a:p>
            <a:r>
              <a:rPr lang="hr-HR" dirty="0"/>
              <a:t>Android Studio – razvoj i testiranje</a:t>
            </a:r>
          </a:p>
        </p:txBody>
      </p:sp>
    </p:spTree>
    <p:extLst>
      <p:ext uri="{BB962C8B-B14F-4D97-AF65-F5344CB8AC3E}">
        <p14:creationId xmlns:p14="http://schemas.microsoft.com/office/powerpoint/2010/main" val="2117142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4D56C41-F915-5602-A304-27B5968C6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Zaključak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AA79009B-3463-4272-172D-93A14582B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2171768"/>
            <a:ext cx="9603275" cy="3811781"/>
          </a:xfrm>
        </p:spPr>
        <p:txBody>
          <a:bodyPr>
            <a:normAutofit fontScale="92500" lnSpcReduction="10000"/>
          </a:bodyPr>
          <a:lstStyle/>
          <a:p>
            <a:r>
              <a:rPr lang="hr-HR" dirty="0"/>
              <a:t>Razvijena funkcionalna Android aplikacija za zalihe i planiranje obroka</a:t>
            </a:r>
          </a:p>
          <a:p>
            <a:r>
              <a:rPr lang="hr-HR" dirty="0"/>
              <a:t>Povezane ključne funkcionalnosti: zalihe, trgovina, recepti i planiranje obroka</a:t>
            </a:r>
          </a:p>
          <a:p>
            <a:r>
              <a:rPr lang="hr-HR" dirty="0"/>
              <a:t>Implementirana dva personalizirana pristupa preporukama</a:t>
            </a:r>
          </a:p>
          <a:p>
            <a:r>
              <a:rPr lang="hr-HR" dirty="0"/>
              <a:t>Na kontroliranom skupu rezultati ML-a i heuristike bili su vrlo slični, gotovo identični</a:t>
            </a:r>
          </a:p>
          <a:p>
            <a:r>
              <a:rPr lang="hr-HR" dirty="0"/>
              <a:t>Aplikacija je provjerena jediničnim i funkcionalnim testovima</a:t>
            </a:r>
          </a:p>
          <a:p>
            <a:r>
              <a:rPr lang="hr-HR" dirty="0"/>
              <a:t>Glavni ciljevi su ispunjeni, a rezultat je Android aplikacija koja integrira upravljanje namirnicama i personalizirano planiranje obroka u jednoj mobilnoj aplikaciji</a:t>
            </a:r>
          </a:p>
        </p:txBody>
      </p:sp>
    </p:spTree>
    <p:extLst>
      <p:ext uri="{BB962C8B-B14F-4D97-AF65-F5344CB8AC3E}">
        <p14:creationId xmlns:p14="http://schemas.microsoft.com/office/powerpoint/2010/main" val="556608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AA966E5-EAC7-7B67-355C-E16954177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953324"/>
            <a:ext cx="9975695" cy="3663064"/>
          </a:xfrm>
        </p:spPr>
        <p:txBody>
          <a:bodyPr>
            <a:normAutofit/>
          </a:bodyPr>
          <a:lstStyle/>
          <a:p>
            <a:r>
              <a:rPr lang="hr-HR" sz="6600" dirty="0"/>
              <a:t>Hvala na pozornosti!</a:t>
            </a: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750EF592-7978-B5AA-9C1D-D99555234908}"/>
              </a:ext>
            </a:extLst>
          </p:cNvPr>
          <p:cNvSpPr txBox="1"/>
          <p:nvPr/>
        </p:nvSpPr>
        <p:spPr>
          <a:xfrm>
            <a:off x="7430610" y="5024761"/>
            <a:ext cx="4571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Ivan Samardžić</a:t>
            </a:r>
          </a:p>
          <a:p>
            <a:r>
              <a:rPr lang="hr-HR" dirty="0"/>
              <a:t>Mentor: prof.dr.sc. Hrvoje Mlinarić</a:t>
            </a:r>
          </a:p>
          <a:p>
            <a:r>
              <a:rPr lang="hr-HR" dirty="0"/>
              <a:t>FER, Zagreb, 11.09.2026.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430306851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ja">
  <a:themeElements>
    <a:clrScheme name="Galerija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erija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j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108</TotalTime>
  <Words>837</Words>
  <Application>Microsoft Office PowerPoint</Application>
  <PresentationFormat>Široki zaslon</PresentationFormat>
  <Paragraphs>149</Paragraphs>
  <Slides>27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2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27</vt:i4>
      </vt:variant>
    </vt:vector>
  </HeadingPairs>
  <TitlesOfParts>
    <vt:vector size="30" baseType="lpstr">
      <vt:lpstr>Arial</vt:lpstr>
      <vt:lpstr>Century Gothic</vt:lpstr>
      <vt:lpstr>Galerija</vt:lpstr>
      <vt:lpstr>Planiranje obroka i praćenje zaliha namirnica na Android mobilnim uređajima</vt:lpstr>
      <vt:lpstr>Sadržaj</vt:lpstr>
      <vt:lpstr>Motivacija </vt:lpstr>
      <vt:lpstr>Ciljevi diplomskog rada</vt:lpstr>
      <vt:lpstr>Funkcionalni zahtjevi</vt:lpstr>
      <vt:lpstr>Nefunkcionalni zahtjevi </vt:lpstr>
      <vt:lpstr>Arhitektura aplikacije</vt:lpstr>
      <vt:lpstr>Baza podataka</vt:lpstr>
      <vt:lpstr>Prijava, registracija i profil</vt:lpstr>
      <vt:lpstr>Zalihe namirnica</vt:lpstr>
      <vt:lpstr>Popis za trgovinu</vt:lpstr>
      <vt:lpstr>Upravljanje receptima</vt:lpstr>
      <vt:lpstr>Detalji i pretraživanje recepata</vt:lpstr>
      <vt:lpstr>Planiranje obroka</vt:lpstr>
      <vt:lpstr>Dva pristupa preporukama </vt:lpstr>
      <vt:lpstr>Strojno učenje – treniranje modela</vt:lpstr>
      <vt:lpstr>Strojno učenje – rad u aplikaciji</vt:lpstr>
      <vt:lpstr>Heuristički pristup  </vt:lpstr>
      <vt:lpstr>Primjer preporuka: ML vs heuristika</vt:lpstr>
      <vt:lpstr>Eksperiment za usporedbu</vt:lpstr>
      <vt:lpstr>Rezultati usporedbe preporuka</vt:lpstr>
      <vt:lpstr>Rezultati usporedbe preporuka</vt:lpstr>
      <vt:lpstr>Jedinični testovi</vt:lpstr>
      <vt:lpstr>Funkcionalni testovi</vt:lpstr>
      <vt:lpstr>Korištene tehnologije i alati</vt:lpstr>
      <vt:lpstr>Zaključak</vt:lpstr>
      <vt:lpstr>Hvala na pozornosti!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Planiranje obroka i praćenje zaliha namirnica na Android mobilnim uređajima</dc:title>
  <dc:creator>Ivan Samardžić</dc:creator>
  <cp:lastModifiedBy>Ivan Samardžić</cp:lastModifiedBy>
  <cp:revision>1</cp:revision>
  <dcterms:created xsi:type="dcterms:W3CDTF">2026-09-09T10:54:02Z</dcterms:created>
  <dcterms:modified xsi:type="dcterms:W3CDTF">2026-09-09T12:42:41Z</dcterms:modified>
</cp:coreProperties>
</file>